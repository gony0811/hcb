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5" r:id="rId16"/>
    <p:sldId id="266" r:id="rId17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10.xml"/><Relationship Id="rId16" Type="http://schemas.openxmlformats.org/officeDocument/2006/relationships/slide" Target="slides/slide9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37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7D8B4"/>
                </a:solidFill>
                <a:latin typeface="맑은 고딕"/>
              </a:rPr>
              <a:t>HCB · Hybrid Chip Bonding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알고리즘 변경 브리핑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FE3EC"/>
                </a:solidFill>
                <a:latin typeface="맑은 고딕"/>
              </a:rPr>
              <a:t>정렬 · 캘리브레이션 · Wafer 시퀀스 개선 내역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8FB4C4"/>
                </a:solidFill>
                <a:latin typeface="맑은 고딕"/>
              </a:rPr>
              <a:t>2026. 7. 14  →  8. 5   (약 3주간)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06240"/>
            <a:ext cx="3246120" cy="141732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 w="15875">
            <a:solidFill>
              <a:srgbClr val="37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4480560"/>
            <a:ext cx="384048" cy="384048"/>
          </a:xfrm>
          <a:prstGeom prst="ellipse">
            <a:avLst/>
          </a:prstGeom>
          <a:solidFill>
            <a:srgbClr val="37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4805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E2233"/>
                </a:solidFill>
                <a:latin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443984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측정 정밀도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206240"/>
            <a:ext cx="3246120" cy="141732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5152" y="4480560"/>
            <a:ext cx="384048" cy="384048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44805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E2233"/>
                </a:solidFill>
                <a:latin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4443984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회전중심·θ 보정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206240"/>
            <a:ext cx="3246120" cy="141732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 w="15875">
            <a:solidFill>
              <a:srgbClr val="6F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11311" y="4480560"/>
            <a:ext cx="384048" cy="384048"/>
          </a:xfrm>
          <a:prstGeom prst="ellipse">
            <a:avLst/>
          </a:prstGeom>
          <a:solidFill>
            <a:srgbClr val="6FB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1" y="44805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E2233"/>
                </a:solidFill>
                <a:latin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19" y="4443984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Wafer·캘리브레이션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8EA0"/>
                </a:solidFill>
                <a:latin typeface="맑은 고딕"/>
              </a:rPr>
              <a:t>에그플렌트 · 변경사항 정리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323F"/>
                </a:solidFill>
                <a:latin typeface="맑은 고딕"/>
              </a:rPr>
              <a:t>한눈에 보는 변경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B7385"/>
                </a:solidFill>
                <a:latin typeface="맑은 고딕"/>
              </a:rPr>
              <a:t>측정 정밀도를 먼저 다진 뒤 → 회전중심·θ 보정 정확도를 올리고 → Wafer·캘리브레이션 시퀀스를 안정화했습니다.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1"/>
            <a:ext cx="108813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1837945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37945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7/14–16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764792"/>
            <a:ext cx="31089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측정 정밀도 기반 다지기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764792"/>
            <a:ext cx="5715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5B7385"/>
                </a:solidFill>
                <a:latin typeface="맑은 고딕"/>
              </a:rPr>
              <a:t>H_X 진직도 보정 · Piezo 높이별 Fiducial 오프셋 · Top 얼라인마크 추정 개선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108813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7" y="2615184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615184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7/20–22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542032"/>
            <a:ext cx="31089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Piezo 고정 측정 도입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542032"/>
            <a:ext cx="5715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5B7385"/>
                </a:solidFill>
                <a:latin typeface="맑은 고딕"/>
              </a:rPr>
              <a:t>Z축이 VCM·Piezo에 주는 영향 분석 → Piezo를 고정하고 메인 Z만으로 측정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108813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7" y="3392424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2E8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392424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7/23–27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319272"/>
            <a:ext cx="31089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Wafer 중심 정밀 측정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319272"/>
            <a:ext cx="5715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5B7385"/>
                </a:solidFill>
                <a:latin typeface="맑은 고딕"/>
              </a:rPr>
              <a:t>Wafer Center 3단 측정 · Vision 인터페이스 정의 · 본딩 전 원상태 복구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23361"/>
            <a:ext cx="108813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7" y="4169665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4169665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7/30–31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096513"/>
            <a:ext cx="31089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회전·θ 보정 강화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4096513"/>
            <a:ext cx="5715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5B7385"/>
                </a:solidFill>
                <a:latin typeface="맑은 고딕"/>
              </a:rPr>
              <a:t>HCRO 강체 피팅 · Wafer θ 점진 보정 · BTM θ 보정 · Head 안전 이동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00600"/>
            <a:ext cx="108813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7" y="4946904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C7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4946904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8/3–5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4873752"/>
            <a:ext cx="31089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캘리브레이션 안정화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873752"/>
            <a:ext cx="5715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5B7385"/>
                </a:solidFill>
                <a:latin typeface="맑은 고딕"/>
              </a:rPr>
              <a:t>저배율 θ 보정 · Calibration 시점 변경 · Piezo 고정 방식 시퀀스 정비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577840"/>
            <a:ext cx="108813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7" y="5724144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C7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5724144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8/5–6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5650992"/>
            <a:ext cx="31089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Wafer 탭·θ 정밀화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5650992"/>
            <a:ext cx="5715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5B7385"/>
                </a:solidFill>
                <a:latin typeface="맑은 고딕"/>
              </a:rPr>
              <a:t>Wafer 맵 반전·측정 · Scribeline θ 정밀화 · θ 대칭 쌍 보정 통일 · Cam/HCRO WaferCenter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7/14–16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31089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측정 정밀도 기반 다지기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896112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C2D2"/>
                </a:solidFill>
                <a:latin typeface="맑은 고딕"/>
              </a:rPr>
              <a:t>정렬의 출발점인 '마크 위치 측정' 자체의 정확도를 끌어올림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41376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19" y="2103120"/>
            <a:ext cx="640080" cy="640080"/>
          </a:xfrm>
          <a:prstGeom prst="ellipse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30552"/>
            <a:ext cx="2087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H_X 진직도 보정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926080"/>
            <a:ext cx="2755392" cy="2606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H_X축이 좌우로 이동할 때 생기는 미세한 상하 흔들림(진직도 오차)을 측정·보정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축 위치별 오차량을 반영해 마크 촬상 좌표를 교정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3880" y="1783080"/>
            <a:ext cx="341376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93920" y="210312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392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1160" y="2130552"/>
            <a:ext cx="2087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Piezo 높이별 오프셋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1352" y="2926080"/>
            <a:ext cx="2755392" cy="2606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Piezo Z축 높이가 바뀌면 Fiducial(기준마크)이 보이는 위치도 미세하게 달라짐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높이에 따라 변하는 오프셋 값을 추가로 반영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회전중심 계산 시 Fiducial 측정을 얼라인마크 측정 높이에 맞춤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7680" y="1783080"/>
            <a:ext cx="341376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27720" y="2103120"/>
            <a:ext cx="640080" cy="640080"/>
          </a:xfrm>
          <a:prstGeom prst="ellipse">
            <a:avLst/>
          </a:prstGeom>
          <a:solidFill>
            <a:srgbClr val="2E8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772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4960" y="2130552"/>
            <a:ext cx="2087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Top 얼라인마크 추정 개선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5152" y="2926080"/>
            <a:ext cx="2755392" cy="2606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기존: 좌·우 마크를 각각 독립 추정 → 카메라 거리(Hc2Offset) 정밀도에 정확도가 좌우됨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변경: 왼쪽 기준 + Top Die 내부 간격으로 오른쪽 마크를 파생 → 캘리브레이션 의존도 감소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89788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EAF4F1"/>
          </a:solidFill>
          <a:ln w="12700">
            <a:solidFill>
              <a:srgbClr val="37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8680" y="6062472"/>
            <a:ext cx="365760" cy="365760"/>
          </a:xfrm>
          <a:prstGeom prst="ellipse">
            <a:avLst/>
          </a:prstGeom>
          <a:solidFill>
            <a:srgbClr val="37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606247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E2233"/>
                </a:solidFill>
                <a:latin typeface="맑은 고딕"/>
              </a:rPr>
              <a:t>핵심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943600"/>
            <a:ext cx="9966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5E4F"/>
                </a:solidFill>
                <a:latin typeface="맑은 고딕"/>
              </a:rPr>
              <a:t>측정 좌표의 흔들림·높이 의존성·캘리브레이션 의존성을 줄여, 이후 모든 정렬의 기반을 안정화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7/20–22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31089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Piezo 고정 측정 알고리즘 도입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896112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C2D2"/>
                </a:solidFill>
                <a:latin typeface="맑은 고딕"/>
              </a:rPr>
              <a:t>Z축 상하 이동이 정렬에 주는 영향을 분석하고, 측정 방식을 근본적으로 변경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28066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19" y="2103120"/>
            <a:ext cx="640080" cy="640080"/>
          </a:xfrm>
          <a:prstGeom prst="ellipse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30552"/>
            <a:ext cx="39547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영향 분석 (사전 조사)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926080"/>
            <a:ext cx="4622292" cy="2606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Z축 높이 변화가 VCM·Piezo에 주는 영향을 측정하는 테스트 프로그램 작성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P-Table 측정 시 VCM을 Offset 수치만큼 조정 후 측정하는 시퀀스 추가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회전중심 계산 오차 보정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80" y="1783080"/>
            <a:ext cx="528066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60820" y="2103120"/>
            <a:ext cx="640080" cy="640080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082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8060" y="2130552"/>
            <a:ext cx="39547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Piezo 고정 측정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8252" y="2926080"/>
            <a:ext cx="4622292" cy="2606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시퀀스상에서 Piezo를 고정하고 메인 Z(H_Z)만 이용해 Fiducial·얼라인마크 위치 측정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측정 중 Piezo가 함께 움직이며 생기던 변동 요인을 제거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H_Z축 수직도(수직으로 내려가지 못하고 기우는) 오차를 함께 보정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9788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EAF4F1"/>
          </a:solidFill>
          <a:ln w="12700">
            <a:solidFill>
              <a:srgbClr val="37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6062472"/>
            <a:ext cx="365760" cy="365760"/>
          </a:xfrm>
          <a:prstGeom prst="ellipse">
            <a:avLst/>
          </a:prstGeom>
          <a:solidFill>
            <a:srgbClr val="37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606247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E2233"/>
                </a:solidFill>
                <a:latin typeface="맑은 고딕"/>
              </a:rPr>
              <a:t>핵심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943600"/>
            <a:ext cx="9966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5E4F"/>
                </a:solidFill>
                <a:latin typeface="맑은 고딕"/>
              </a:rPr>
              <a:t>'피에조 고정 + 메인 Z 단독 측정' 방식 전환 — 이후 캘리브레이션·정렬 시퀀스의 기준 방식이 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2E8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7/23–27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31089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Wafer 중심 정밀 측정 · 인터페이스 정비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896112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C2D2"/>
                </a:solidFill>
                <a:latin typeface="맑은 고딕"/>
              </a:rPr>
              <a:t>웨이퍼 정렬의 기준점인 '중심'을 정밀하게 잡고, 측정 연동 구조를 정리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4137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19" y="2103120"/>
            <a:ext cx="640080" cy="640080"/>
          </a:xfrm>
          <a:prstGeom prst="ellipse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30552"/>
            <a:ext cx="2087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Wafer Center 3단 측정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926080"/>
            <a:ext cx="275539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웨이퍼 중심을 한 번이 아닌 3단계로 나눠 측정해 정밀도 향상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측정·계산 로직 리팩토링으로 구조 정리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3880" y="1783080"/>
            <a:ext cx="34137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93920" y="210312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392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1160" y="2130552"/>
            <a:ext cx="2087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Vision 인터페이스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1352" y="2926080"/>
            <a:ext cx="275539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Wafer Align 비전 측정 인터페이스를 정의·재정의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측정 결과를 시퀀스가 일관되게 받아 쓰도록 연동 구조 표준화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7680" y="1783080"/>
            <a:ext cx="34137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27720" y="2103120"/>
            <a:ext cx="640080" cy="640080"/>
          </a:xfrm>
          <a:prstGeom prst="ellipse">
            <a:avLst/>
          </a:prstGeom>
          <a:solidFill>
            <a:srgbClr val="2E8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772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4960" y="2130552"/>
            <a:ext cx="2087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본딩 전 원상태 복구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5152" y="2926080"/>
            <a:ext cx="275539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본딩 직전 각 축을 정해진 원상태로 복구하는 처리 추가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이전 동작 잔여 상태가 다음 본딩에 영향을 주지 않도록 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7/30–31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31089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회전중심 · θ(각도) 보정 강화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896112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C2D2"/>
                </a:solidFill>
                <a:latin typeface="맑은 고딕"/>
              </a:rPr>
              <a:t>접합 각도 잔차의 근본 원인을 겨냥한 보정 알고리즘 적용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4137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19" y="2103120"/>
            <a:ext cx="640080" cy="640080"/>
          </a:xfrm>
          <a:prstGeom prst="ellipse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30552"/>
            <a:ext cx="2087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Wafer θ 점진 보정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926080"/>
            <a:ext cx="275539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Die마다 각도를 조금씩 점진 보정하고, 끝 Die 도달 후 역주행하며 재보정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스윕 범위를 Die·Step 수로 사전 제한해 웨이퍼(화면) 밖 이탈 방지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진행 중 동작 취소 버튼 추가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3880" y="1783080"/>
            <a:ext cx="34137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93920" y="210312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392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1160" y="2130552"/>
            <a:ext cx="2087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BTM θ 보정 시퀀스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1352" y="2926080"/>
            <a:ext cx="275539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카메라 거리 측정 → BTM Die 측정 → θ 보정 → BTM Die 재측정 순서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두 카메라(HC1·HC2) 얼라인마크를 통합해 측정 각도 계산 후 W_T 회전 보정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7680" y="1783080"/>
            <a:ext cx="34137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27720" y="2103120"/>
            <a:ext cx="640080" cy="640080"/>
          </a:xfrm>
          <a:prstGeom prst="ellipse">
            <a:avLst/>
          </a:prstGeom>
          <a:solidFill>
            <a:srgbClr val="C7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772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4960" y="2130552"/>
            <a:ext cx="2087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Head 안전 이동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5152" y="2926080"/>
            <a:ext cx="275539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고배율 정렬 전 H_Z·h_z 두 축을 항상 SAFETY 위치로 이동하도록 변경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기존엔 낮은 축만 후퇴 → 헤드 충돌 위험 축소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7/31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384048"/>
            <a:ext cx="9509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맑은 고딕"/>
              </a:rPr>
              <a:t>HCRO 강체 피팅 (Rigid-body Fit)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987552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2A65A"/>
                </a:solidFill>
                <a:latin typeface="맑은 고딕"/>
              </a:rPr>
              <a:t>회전중심을 더 정확히 찾아 각도에 비례하던 접합 오차를 잡는 알고리즘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257800" cy="214884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 w="12700">
            <a:solidFill>
              <a:srgbClr val="31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9E6D"/>
                </a:solidFill>
                <a:latin typeface="맑은 고딕"/>
              </a:rP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D6E6EE"/>
                </a:solidFill>
                <a:latin typeface="맑은 고딕"/>
              </a:rPr>
              <a:t>•  바텀다이 회전각(β)에 비례하는 접합 잔차 발생 (0.9°에서 약 9μm)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D6E6EE"/>
                </a:solidFill>
                <a:latin typeface="맑은 고딕"/>
              </a:rPr>
              <a:t>•  유력 원인: 회전중심(HCRO)과 실제 H_T 회전축의 불일치 e (잔차 ≈ β × e)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D6E6EE"/>
                </a:solidFill>
                <a:latin typeface="맑은 고딕"/>
              </a:rPr>
              <a:t>•  기존 원(圓) 피팅은 좁은 ±0.75° 호에서 비전 노이즈에 묻혀 e를 감지 못함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257800" cy="2148840"/>
          </a:xfrm>
          <a:prstGeom prst="roundRect">
            <a:avLst>
              <a:gd name="adj" fmla="val 8000"/>
            </a:avLst>
          </a:prstGeom>
          <a:solidFill>
            <a:srgbClr val="12463C"/>
          </a:solidFill>
          <a:ln w="15875">
            <a:solidFill>
              <a:srgbClr val="37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7D8B4"/>
                </a:solidFill>
                <a:latin typeface="맑은 고딕"/>
              </a:rPr>
              <a:t>해결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8600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DFF3EE"/>
                </a:solidFill>
                <a:latin typeface="맑은 고딕"/>
              </a:rPr>
              <a:t>•  강체 피팅 신규 적용 — 회전각 β를 먼저 확정한 뒤 회전중심을 최소자승으로 산출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DFF3EE"/>
                </a:solidFill>
                <a:latin typeface="맑은 고딕"/>
              </a:rPr>
              <a:t>•  원 피팅과 병행 계산·비교 로그, 적용 방식은 파라미터(HCRO_FIT_MODE)로 선택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0">
                <a:solidFill>
                  <a:srgbClr val="DFF3EE"/>
                </a:solidFill>
                <a:latin typeface="맑은 고딕"/>
              </a:rPr>
              <a:t>•  측정 사이클을 여러 번 반복(HCRO_REPEAT_N), 실패 시 0도 복귀 보장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 w="12700">
            <a:solidFill>
              <a:srgbClr val="31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24528"/>
            <a:ext cx="3383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37D8B4"/>
                </a:solidFill>
                <a:latin typeface="맑은 고딕"/>
              </a:rPr>
              <a:t>β × 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9FC2D2"/>
                </a:solidFill>
                <a:latin typeface="맑은 고딕"/>
              </a:rPr>
              <a:t>잔차의 지배 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411480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 w="12700">
            <a:solidFill>
              <a:srgbClr val="31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4224528"/>
            <a:ext cx="3383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37D8B4"/>
                </a:solidFill>
                <a:latin typeface="맑은 고딕"/>
              </a:rPr>
              <a:t>±0.75°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8920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9FC2D2"/>
                </a:solidFill>
                <a:latin typeface="맑은 고딕"/>
              </a:rPr>
              <a:t>측정 회전 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411480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 w="12700">
            <a:solidFill>
              <a:srgbClr val="31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9" y="4224528"/>
            <a:ext cx="3383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37D8B4"/>
                </a:solidFill>
                <a:latin typeface="맑은 고딕"/>
              </a:rPr>
              <a:t>Rigid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48920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9FC2D2"/>
                </a:solidFill>
                <a:latin typeface="맑은 고딕"/>
              </a:rPr>
              <a:t>기본 적용 모드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12463C"/>
          </a:solidFill>
          <a:ln w="12700">
            <a:solidFill>
              <a:srgbClr val="37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37D8B4"/>
                </a:solidFill>
                <a:latin typeface="맑은 고딕"/>
              </a:rPr>
              <a:t>정밀 캘리브레이션이 필요한 미세 오차(회전중심 어긋남)를, 측정 구조 자체를 바꿔 감지·교정할 수 있게 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C7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8/3–5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31089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저배율 θ 보정 · 캘리브레이션 안정화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896112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C2D2"/>
                </a:solidFill>
                <a:latin typeface="맑은 고딕"/>
              </a:rPr>
              <a:t>실장비 적용 과정에서 드러난 문제를 정리하고 캘리브레이션 시점·시퀀스를 재정비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4137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19" y="2103120"/>
            <a:ext cx="640080" cy="640080"/>
          </a:xfrm>
          <a:prstGeom prst="ellipse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30552"/>
            <a:ext cx="2087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저배율 θ 보정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926080"/>
            <a:ext cx="275539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3점 측정으로 중심을 찾는 시퀀스 작성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저배율 Center로 이동 후 θ 보정하도록 순서 정리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안정화 과정에서 불안정하던 Wafer θ 보정 코드는 정리·제거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3880" y="1783080"/>
            <a:ext cx="34137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93920" y="210312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392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1160" y="2130552"/>
            <a:ext cx="2087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Calibration 시점 변경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1352" y="2926080"/>
            <a:ext cx="275539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실측 캘리브레이션 시점을 'BTM Die 측정 시점' → 'BTM Die Pickup 전'으로 변경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4차 고배 측정 시퀀스·카메라 전환 처리 보완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7680" y="1783080"/>
            <a:ext cx="34137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27720" y="2103120"/>
            <a:ext cx="640080" cy="640080"/>
          </a:xfrm>
          <a:prstGeom prst="ellipse">
            <a:avLst/>
          </a:prstGeom>
          <a:solidFill>
            <a:srgbClr val="C7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772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4960" y="2130552"/>
            <a:ext cx="2087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Piezo 고정 방식 정비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5152" y="2926080"/>
            <a:ext cx="275539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Piezo 고정 방식 전환으로 동작하지 않던 기존 캘리브레이션 시퀀스 수정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강체 피팅 반영, Calibration Z축 불일치 수정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C7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8/5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31089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Wafer 시퀀스 탭 개선 · Scribeline θ 보정 정밀화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896112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C2D2"/>
                </a:solidFill>
                <a:latin typeface="맑은 고딕"/>
              </a:rPr>
              <a:t>웨이퍼 맵 표시와 조작 편의를 개선하고, 저배율 θ 보정의 측정 위치 선정을 정밀화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4137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19" y="2103120"/>
            <a:ext cx="640080" cy="640080"/>
          </a:xfrm>
          <a:prstGeom prst="ellipse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30552"/>
            <a:ext cx="2087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Wafer Map 표시 반전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926080"/>
            <a:ext cx="275539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웨이퍼 맵을 상하 반전해 실제 장비의 웨이퍼 방향과 일치하도록 표시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다이 클릭(선택) 좌표도 반전에 맞춰 보정 — 선택 위치 불일치 해소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3880" y="1783080"/>
            <a:ext cx="34137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93920" y="210312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392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1160" y="2130552"/>
            <a:ext cx="2087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저배/고배 보기 + 측정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1352" y="2926080"/>
            <a:ext cx="275539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'저배율/고배율로 보기' 클릭 시 해당 위치로 이동 후 카메라 측정까지 수행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고배율은 HC1·HC2 두 카메라 모두 측정하고 결과(중심 대비 오프셋) 표시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본딩·취소 버튼이 겹쳐 보이던 문제 수정 (진행 중에만 취소 노출)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7680" y="1783080"/>
            <a:ext cx="34137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27720" y="2103120"/>
            <a:ext cx="640080" cy="640080"/>
          </a:xfrm>
          <a:prstGeom prst="ellipse">
            <a:avLst/>
          </a:prstGeom>
          <a:solidFill>
            <a:srgbClr val="C7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772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4960" y="2130552"/>
            <a:ext cx="2087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Scribeline θ 보정 정밀화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5152" y="2926080"/>
            <a:ext cx="275539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Wafer Size가 홀수일 때 중심 기준 좌·우 스크라이브 선 수가 다른 점을 반영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십자마크가 없는 최외곽 선은 제외하고, 십자마크가 보이는 선에서만 측정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측정에 사용한 실제 선 위치로 웨이퍼 중심을 다시 계산하도록 보정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맑은 고딕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FE3EC"/>
                </a:solidFill>
                <a:latin typeface="맑은 고딕"/>
              </a:rPr>
              <a:t>3주간의 변경은 하나의 방향으로 이어집니다 — 측정을 안정화하고, 회전·각도 오차를 잡고, 시퀀스를 정비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57800" cy="155448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 w="12700">
            <a:solidFill>
              <a:srgbClr val="31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19" y="2240280"/>
            <a:ext cx="502920" cy="502920"/>
          </a:xfrm>
          <a:prstGeom prst="ellipse">
            <a:avLst/>
          </a:prstGeom>
          <a:solidFill>
            <a:srgbClr val="37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2402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E2233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9456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맑은 고딕"/>
              </a:rPr>
              <a:t>측정 정밀도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B9D3DF"/>
                </a:solidFill>
                <a:latin typeface="맑은 고딕"/>
              </a:rPr>
              <a:t>진직도·Piezo 높이·마크 추정 방식 개선으로 측정 좌표 안정화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5257800" cy="155448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 w="12700">
            <a:solidFill>
              <a:srgbClr val="31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2240280"/>
            <a:ext cx="502920" cy="502920"/>
          </a:xfrm>
          <a:prstGeom prst="ellipse">
            <a:avLst/>
          </a:prstGeom>
          <a:solidFill>
            <a:srgbClr val="6FB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E2233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19456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맑은 고딕"/>
              </a:rPr>
              <a:t>Piezo 고정 측정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670048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B9D3DF"/>
                </a:solidFill>
                <a:latin typeface="맑은 고딕"/>
              </a:rPr>
              <a:t>Piezo 고정 + 메인 Z 단독 측정 방식으로 전환 (측정 변동 요인 제거)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03320"/>
            <a:ext cx="5257800" cy="155448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 w="12700">
            <a:solidFill>
              <a:srgbClr val="31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19" y="4023359"/>
            <a:ext cx="502920" cy="502920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19" y="402335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E2233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977639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맑은 고딕"/>
              </a:rPr>
              <a:t>회전중심·θ 보정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53128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B9D3DF"/>
                </a:solidFill>
                <a:latin typeface="맑은 고딕"/>
              </a:rPr>
              <a:t>HCRO 강체 피팅 · BTM/Wafer θ 보정으로 각도 비례 잔차 대응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03320"/>
            <a:ext cx="5257800" cy="155448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 w="12700">
            <a:solidFill>
              <a:srgbClr val="31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92240" y="4023359"/>
            <a:ext cx="502920" cy="502920"/>
          </a:xfrm>
          <a:prstGeom prst="ellipse">
            <a:avLst/>
          </a:prstGeom>
          <a:solidFill>
            <a:srgbClr val="F2C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02335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E2233"/>
                </a:solidFill>
                <a:latin typeface="맑은 고딕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977639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맑은 고딕"/>
              </a:rPr>
              <a:t>Wafer·캘리브레이션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453128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B9D3DF"/>
                </a:solidFill>
                <a:latin typeface="맑은 고딕"/>
              </a:rPr>
              <a:t>중심 측정·캘리브레이션 정비 · Wafer 맵/측정 UI · θ 대칭 쌍 보정 · Cam/HCRO WaferCenter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37D8B4"/>
                </a:solidFill>
                <a:latin typeface="맑은 고딕"/>
              </a:rPr>
              <a:t>이후 변경사항은 에그플렌트 양식으로 시간순 정리 후 변경 시마다 공유 예정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C7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8/6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31089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θ 보정 대칭 쌍 방식 · Cam/HCRO 측정 위치 개선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896112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C2D2"/>
                </a:solidFill>
                <a:latin typeface="맑은 고딕"/>
              </a:rPr>
              <a:t>θ 보정을 대칭 쌍 방식으로 통일하고, 카메라 거리·회전중심 측정을 WaferCenter에서 수행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4137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19" y="2103120"/>
            <a:ext cx="640080" cy="640080"/>
          </a:xfrm>
          <a:prstGeom prst="ellipse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30552"/>
            <a:ext cx="2087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θ 대칭 쌍 보정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926080"/>
            <a:ext cx="275539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중심을 피벗으로 좌·우 대칭 두 점의 긴 baseline으로 기울기를 측정 (정밀도↑)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안쪽→바깥으로 확장해 검출되는 가장 바깥(최장 baseline) 쌍에서 1회 보정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3880" y="1783080"/>
            <a:ext cx="34137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93920" y="210312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392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1160" y="2130552"/>
            <a:ext cx="2087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2·4차·THETA 통일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1352" y="2926080"/>
            <a:ext cx="275539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저배 Scribeline·고배 AlignMark θ 보정을 하나의 공용 방식으로 통합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기존 인접 비교·점진 보정 방식과 무의미해진 반복 설정을 제거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7680" y="1783080"/>
            <a:ext cx="34137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  <a:effectLst>
            <a:outerShdw blurRad="60000" dist="25000" dir="5400000" rotWithShape="0">
              <a:srgbClr val="9FB4C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27720" y="2103120"/>
            <a:ext cx="640080" cy="640080"/>
          </a:xfrm>
          <a:prstGeom prst="ellipse">
            <a:avLst/>
          </a:prstGeom>
          <a:solidFill>
            <a:srgbClr val="C7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772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4960" y="2130552"/>
            <a:ext cx="2087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323F"/>
                </a:solidFill>
                <a:latin typeface="맑은 고딕"/>
              </a:rPr>
              <a:t>Cam/HCRO 측정 위치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5152" y="2926080"/>
            <a:ext cx="275539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카메라 거리·회전중심 측정을 PLACE_CENTER → WaferCenter(실측 중심)로 이동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C4652"/>
                </a:solidFill>
                <a:latin typeface="맑은 고딕"/>
              </a:rPr>
              <a:t>•  WaferSeqTab에서만 지정·원복 → Step 시퀀스 본딩에는 영향 없음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