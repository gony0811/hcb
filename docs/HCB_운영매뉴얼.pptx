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0c1f3b3f-9533-12ab-4079-250368690ab4}">
          <p14:sldIdLst>
            <p14:sldId id="256"/>
            <p14:sldId id="257"/>
          </p14:sldIdLst>
        </p14:section>
        <p14:section name="시스템 개요" id="{9d21e95f-85cf-6cf7-fc4c-eafd80626def}">
          <p14:sldIdLst>
            <p14:sldId id="258"/>
            <p14:sldId id="259"/>
            <p14:sldId id="260"/>
            <p14:sldId id="261"/>
          </p14:sldIdLst>
        </p14:section>
        <p14:section name="운전과 본딩 시퀀스" id="{f9c853f8-3b65-6bba-872a-ba61d7b0435d}">
          <p14:sldIdLst>
            <p14:sldId id="262"/>
            <p14:sldId id="263"/>
            <p14:sldId id="264"/>
            <p14:sldId id="265"/>
          </p14:sldIdLst>
        </p14:section>
        <p14:section name="안전과 관리 기능" id="{9fd5ad16-2c30-e2f7-efb3-d59714e4df6b}">
          <p14:sldIdLst>
            <p14:sldId id="266"/>
            <p14:sldId id="267"/>
            <p14:sldId id="268"/>
          </p14:sldIdLst>
        </p14:section>
        <p14:section name="레시피 파라미터" id="{06ca812d-8975-0677-7c9e-230af054f9b8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EC 파라미터" id="{1a67142c-bc41-39db-446a-e8919596b06e}">
          <p14:sldIdLst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6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A36"/>
                </a:solidFill>
                <a:latin typeface="+mn-lt"/>
              </a:rPr>
              <a:t>가압 프로파일 개념도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하중</c:v>
                </c:pt>
              </c:strCache>
            </c:strRef>
          </c:tx>
          <c:spPr>
            <a:solidFill>
              <a:srgbClr val="E39B2D"/>
            </a:solidFill>
            <a:ln w="38100" cap="flat">
              <a:solidFill>
                <a:srgbClr val="E39B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39B2D"/>
              </a:solidFill>
              <a:ln w="9525" cap="flat">
                <a:solidFill>
                  <a:srgbClr val="E39B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Acc</c:v>
                  </c:pt>
                  <c:pt idx="2">
                    <c:v>Acc2</c:v>
                  </c:pt>
                  <c:pt idx="3">
                    <c:v>Cont</c:v>
                  </c:pt>
                  <c:pt idx="4">
                    <c:v/>
                  </c:pt>
                  <c:pt idx="5">
                    <c:v>Dec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55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E6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1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E6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91440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2044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2011680" y="3566160"/>
            <a:ext cx="91440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HCB Hybrid Chip Bonder · 운영 매뉴얼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HCB 장비 운영 매뉴얼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204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Hybrid Chip Bonding Machine · 주요 기능과 레시피 파라미터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006840" y="20574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0" y="20574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06840" y="3703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52760" y="37033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55480" y="2606040"/>
            <a:ext cx="1005840" cy="1005840"/>
          </a:xfrm>
          <a:prstGeom prst="rect">
            <a:avLst/>
          </a:prstGeom>
          <a:solidFill>
            <a:schemeClr val="tx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6035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2026.10 · Software EMC 4.7.2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시스템 개요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장비 구성 · 화면 구성 · 메인 서브 화면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운전과 본딩 시퀀스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06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운전 절차 · 판넬 스위치 · 정렬 파이프라인 · 보정 계산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안전과 관리 기능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인터락 · 알람 · 사용자 권한 · 로그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069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레시피 파라미터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레시피 구조 · Recipe Param · Step Recipe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83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EC 파라미터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349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장비 오프셋 · 카메라 캘리브레이션 · 알고리즘 옵션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697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시스템 개요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3566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장비를 이루는 장치와 HMI 화면 구성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장비 구성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HMI 프로그램(HCB.UI)이 모션 컨트롤러, I/O, 비전 PC, DB를 하나로 묶어 제어합니다.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480560" y="2834640"/>
            <a:ext cx="3200400" cy="1463040"/>
          </a:xfrm>
          <a:prstGeom prst="roundRect">
            <a:avLst>
              <a:gd name="adj" fmla="val 625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480560" y="28346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HCB.UI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WPF HMI · 시퀀스 · 인터락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Power PMAC (모션)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H_X · H_Z · H_T · W_Y · W_T · P_Y · D_Y · h_z 축 구동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본딩 가압 시퀀스 실행 (로드셀 제어)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1691640"/>
            <a:ext cx="35204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66760" y="1874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PMAC I/O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66760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Vacuum · Blow · 판넬 스위치(X000~X002)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EMO · 라이트 커튼 · 도어 · 팬 감시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343400"/>
            <a:ext cx="35204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비전 PC (TCP)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PC / HC1 / HC2 고배율, 저배율 카메라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마크 좌표 측정 · 레시피 연동(VISION_RECIPE)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4343400"/>
            <a:ext cx="35204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66760" y="4526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SQLite DB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50749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레시피 · EC 파라미터 · 모션 위치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알람 이력 · 측정 로그 (hcb.db)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69080" y="2468880"/>
            <a:ext cx="411480" cy="731520"/>
          </a:xfrm>
          <a:prstGeom prst="line">
            <a:avLst/>
          </a:prstGeom>
          <a:noFill/>
          <a:ln w="19050">
            <a:solidFill>
              <a:srgbClr val="9AA9B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V="1">
            <a:off x="7680960" y="2468880"/>
            <a:ext cx="457200" cy="731520"/>
          </a:xfrm>
          <a:prstGeom prst="line">
            <a:avLst/>
          </a:prstGeom>
          <a:noFill/>
          <a:ln w="19050">
            <a:solidFill>
              <a:srgbClr val="9AA9B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V="1">
            <a:off x="4069080" y="3931920"/>
            <a:ext cx="411480" cy="1188720"/>
          </a:xfrm>
          <a:prstGeom prst="line">
            <a:avLst/>
          </a:prstGeom>
          <a:noFill/>
          <a:ln w="19050">
            <a:solidFill>
              <a:srgbClr val="9AA9B6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680960" y="3931920"/>
            <a:ext cx="457200" cy="1188720"/>
          </a:xfrm>
          <a:prstGeom prst="line">
            <a:avLst/>
          </a:prstGeom>
          <a:noFill/>
          <a:ln w="19050">
            <a:solidFill>
              <a:srgbClr val="9AA9B6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48640" y="5943600"/>
            <a:ext cx="11094415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60350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6035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594360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appsettings.json 의 Data.Simulation = true 이면 하드웨어 없이 시뮬레이션 모드로 실행됩니다.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HMI 화면 구성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상단 탭으로 9개 화면을 전환합니다. 사용자 권한에 따라 접근 가능한 화면이 달라집니다.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8470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메인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12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USub01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운전 · 시퀀스 실행 · 캘리브레이션 · 상태 모니터링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0248" y="1645920"/>
            <a:ext cx="35661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71416" y="18470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71416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47488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파라미터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047488" y="2212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USub02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레시피 목록 · 레시피 파라미터 · 본딩 스텝 편집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91856" y="1645920"/>
            <a:ext cx="35661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93024" y="184708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93024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769096" y="18288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사용자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769096" y="22128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USub03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0456" y="2514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작업자 / 엔지니어 / 서비스 엔지니어 권한 설정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154680"/>
            <a:ext cx="35661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33558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337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로그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37216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USub04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023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시스템 로그 · 정렬 측정 데이터 조회 · CSV 출력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70248" y="3154680"/>
            <a:ext cx="35661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71416" y="33558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471416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047488" y="3337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알람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5047488" y="37216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USub05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498848" y="4023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알람 정의(코드 · 원인 · 해결 방법) · 에러 목록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91856" y="3154680"/>
            <a:ext cx="35661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93024" y="33558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93024" y="3355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769096" y="3337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모션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769096" y="372160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USub06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220456" y="4023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모션 항목 · 티칭 위치 관리 · 모터 상태 · 이동/정지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4663440"/>
            <a:ext cx="35661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" y="48646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49808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1325880" y="4846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I/O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1325880" y="52303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USub07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777240" y="5532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디지털 입력 모니터링 · 출력 신호 수동 제어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270248" y="4663440"/>
            <a:ext cx="35661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471416" y="48646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471416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49" name="Text 47"/>
          <p:cNvSpPr txBox="1"/>
          <p:nvPr/>
        </p:nvSpPr>
        <p:spPr>
          <a:xfrm>
            <a:off x="5047488" y="4846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디바이스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5047488" y="52303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USub08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4498848" y="5532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디바이스 생성 · 연결 / 연결 해제 · 상태 확인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991856" y="4663440"/>
            <a:ext cx="356616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93024" y="486460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193024" y="4864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8769096" y="4846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EC 파라미터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8769096" y="523036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USub09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8220456" y="55321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장비 고유 상수와 캘리브레이션 결과 관리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메인 화면 서브 메뉴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메인(USub01) 화면 좌측 사이드바에서 작업 단계별 서브 화면을 선택합니다.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128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준비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System Initialize(Servo On, Home)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레시피 선택 · 카세트 로드 · AF 측정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1645920"/>
            <a:ext cx="26517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4448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22128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자동 운전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2514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Start / Stop / Init / Reset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진행 스텝 · Tact Time · 본딩 정밀도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63056" y="1645920"/>
            <a:ext cx="26517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1656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MANUAL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22128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수동 조작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391656" y="2514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축별 위치 이동 · 속도 지정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전체 JOG · 정지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70264" y="1645920"/>
            <a:ext cx="26517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98864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LOADING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22128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로딩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2514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Top / Btm 다이 Vacuum On/Off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D / W Table 로드 위치 이동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26517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STEP SEQ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4988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단계 시퀀스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800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Top / Bottom 시퀀스 단계별 실행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보정 · PLACE · 결과 측정(버니어)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55848" y="3931920"/>
            <a:ext cx="26517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584448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WAFER SEQ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584448" y="44988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웨이퍼 시퀀스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584448" y="4800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웨이퍼 맵 · 중심 / Theta 보정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선택 다이 본딩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63056" y="3931920"/>
            <a:ext cx="26517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91656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VISION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391656" y="44988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비전 검증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391656" y="4800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측정 → 보정 이동 → 재측정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Z축 피듀셜 트래킹 · CSV 저장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970264" y="3931920"/>
            <a:ext cx="265176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98864" y="4114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CALIBRATION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198864" y="449884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캘리브레이션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198864" y="480060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카메라 각도 · HC1/HC2 거리 · HcRO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PC AF · 2D Mapping · WarmUp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697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운전과 본딩 시퀀스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3566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운전 절차와 정렬 보정이 계산되는 과정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기본 운전 절차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전원 투입부터 자동 운전까지 아래 순서로 진행합니다.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06424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42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로그인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9748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사용자 계정으로 로그인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권한별 화면 활성화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67128" y="1828800"/>
            <a:ext cx="32004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9232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923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441448" y="233172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레시피 선택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441448" y="269748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PREP 또는 파라미터 화면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사용 레시피 지정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59936" y="1828800"/>
            <a:ext cx="32004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334256" y="233172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초기화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334256" y="269748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Servo All 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축별 Home 복귀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52744" y="1828800"/>
            <a:ext cx="32004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84848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8484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27064" y="233172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캘리브레이션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27064" y="269748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카메라 각도 · 거리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HcRO (필요 시)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45552" y="1828800"/>
            <a:ext cx="32004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77656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7765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119872" y="233172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로딩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119872" y="269748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다이 / 웨이퍼 로드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Vacuum 확인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738360" y="1828800"/>
            <a:ext cx="320040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70464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7046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012680" y="233172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자동 운전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012680" y="2697480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AUTO Start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진행 상태 · 정밀도 확인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3703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판넬 스위치 (I/O 연동)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548640" y="4160520"/>
            <a:ext cx="3566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4389120"/>
            <a:ext cx="640080" cy="640080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554480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START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554480" y="4690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X000 · 신호 0 → 1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120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Top Full Sequence 시작. 레시피 종류가 DIE면 다이 본딩, WAFER면 선택한 다이를 웨이퍼에 본딩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270248" y="4160520"/>
            <a:ext cx="3566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98848" y="4389120"/>
            <a:ext cx="640080" cy="64008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276088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STOP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5276088" y="4690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X001 · 신호 0 → 1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4498848" y="5120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실행 중인 시퀀스 정지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991856" y="4160520"/>
            <a:ext cx="356616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0456" y="438912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997696" y="4343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RESET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8997696" y="4690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X002 · 신호 1 → 0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220456" y="51206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Machine Init 실행 (Step Seq 화면의 Init과 동일)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스위치로 시작한 시퀀스가 진행 중이면 START / RESET 입력은 무시됩니다.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본딩 정렬 파이프라인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AlignData 객체 하나가 다섯 단계를 거치며 측정값과 계산 결과를 누적합니다.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32004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TopHighAlign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Top Die 고배율 측정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2044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PC Table 카메라로 Right Fid → Right Align → Left Fid → Left Align 4점 촬상 (절대 픽셀 좌표)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8064" y="1691640"/>
            <a:ext cx="2103120" cy="32004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26664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2666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26664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BtmHighAlign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026664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Btm Die 고배율 측정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026664" y="352044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Head를 본딩 위치로 내린 뒤 HC1 / HC2 카메라로 4점 측정 (카메라 중심 대비 상대거리)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47488" y="1691640"/>
            <a:ext cx="2103120" cy="320040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76088" y="19202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7608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76088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좌표 통합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CoordinateSystem Integration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276088" y="352044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Top · Btm 좌표를 HcRO 기준으로 합치고 θ와 X / Y 보정량(ResultX · Y · T) 계산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96912" y="1691640"/>
            <a:ext cx="2103120" cy="32004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25512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2551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25512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BondingCorr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525512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보정 이동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525512" y="352044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H_X · W_Y · H_T를 보정량만큼 이동한 뒤 H_Z를 본딩 높이로 하강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46336" y="1691640"/>
            <a:ext cx="2103120" cy="320040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74936" y="19202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77493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774936" y="25603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BondingPress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774936" y="29718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가압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774936" y="3520440"/>
            <a:ext cx="17373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PMAC 가압 시퀀스 실행 (Step Recipe), 완료 후 Vacuum OFF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120640"/>
            <a:ext cx="11094415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52120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5212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51206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옵션: 2D Mapping 보정(P/W Table), Fiducial Angle Tracking(피듀셜 드리프트로 θ 보정)은 메인 화면 Settings에서 켭니다.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보정량 계산과 축 적용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좌표 통합 결과에 레시피 오프셋이 더해져 최종 보정 이동량이 됩니다.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좌표 통합 (MainSequence)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HcRO(회전중심) 결정: Manual Tracing은 실측, None은 EC 값(HCRO_X/Y)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Fid → Align 이동량으로 Top Align 위치 산출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모든 마크 좌표에서 HcRO를 빼 회전중심 기준으로 변환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3"/>
                </a:solidFill>
              </a:rPr>
              <a:t>thetaF = SPEC_THETA − (Top 각도 − Btm 각도)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Top 마크를 thetaF만큼 회전한 뒤 중심 차이 계산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3"/>
                </a:solidFill>
              </a:rPr>
              <a:t>ResultX/Y = 중심 차 + X/Y_ALIGN_OFFSET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3"/>
                </a:solidFill>
              </a:rPr>
              <a:t>ResultT = thetaF + T_ALIGN_OFFSET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9164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BondingCorr 축 이동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2194560"/>
            <a:ext cx="164592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21945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H_X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− ResultX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83880" y="2194560"/>
            <a:ext cx="164592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21945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W_Y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− ResultY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966960" y="2194560"/>
            <a:ext cx="1645920" cy="1097280"/>
          </a:xfrm>
          <a:prstGeom prst="roundRect">
            <a:avLst>
              <a:gd name="adj" fmla="val 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966960" y="21945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H_T</a:t>
            </a:r>
            <a:endParaRPr lang="en-US" sz="20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+ ResultT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3383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XY / θ 세 축은 병렬로 이동합니다.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3657600"/>
            <a:ext cx="52578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7512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H_Z 본딩 높이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1148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H_Z = SHANK_TO_WAFER_OFFSET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− TOP_DIE_THICKNESS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− BTM_DIE_THICKNESS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− READY_POSITION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69748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안전과 관리 기능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3566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인터락 · 알람 · 사용자 권한 · 로그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인터락과 알람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InterlockService가 프로그램 시작 시 항상 활성화되어 안전 신호를 감시하고, 이상 시 시퀀스를 멈추고 알람을 띄웁니다.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6692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011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감시 신호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알람 코드</a:t>
                      </a:r>
                      <a:endParaRPr lang="en-US" sz="13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EMO 1 / EMO 2 스위치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E001 / E002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라이트 커튼 차단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E003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전면 좌 / 우 도어 열림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E004 / E005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측면 좌 / 우 도어 열림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E006 / E0007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팬 1 ~ 4 알람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E0008 ~ E0011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EPU 알람 · PMAC 연결 끊김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인터락 발생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583680" y="1737360"/>
            <a:ext cx="5056632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784848" y="193852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784848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1920240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알람 화면 (USub05)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12280" y="2468880"/>
            <a:ext cx="4645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알람 코드별로 레벨, 내용, 원인, 해결 방법을 정의합니다. 에러 목록에서 발생 이력을 확인합니다.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583680" y="3749040"/>
            <a:ext cx="505663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84848" y="395020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84848" y="3950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60920" y="3931920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알람 해제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812280" y="4480560"/>
            <a:ext cx="4645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원인을 제거한 뒤 Reset(AUTO 화면 또는 X002 스위치)으로 초기화합니다.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사용자 권한과 로그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48132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사용자 (USub03)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9834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484632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1488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작업자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21488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운전 · 로딩 등 기본 조작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108960"/>
            <a:ext cx="484632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31089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엔지니어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108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레시피 · 캘리브레이션 · 모션 티칭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069080"/>
            <a:ext cx="4846320" cy="77724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5840" y="4069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서비스 엔지니어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4069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모든 화면 · 장비 설정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074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역할별로 접근 가능한 화면을 체크해 저장합니다. 위 권한 범위는 일반적인 예시입니다.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45352" y="1280160"/>
            <a:ext cx="53949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6520" y="148132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22592" y="14630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로그 (USub04)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73952" y="2011680"/>
            <a:ext cx="49834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214884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기간(Begin / End)과 레벨로 시스템 로그 검색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정렬 측정 데이터 조회: Top · Btm 마크 좌표, HcRO, 카메라 거리, Offset, Result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측정 종류별 필터: 2D 매핑 · Fid 추적 · Btm 개별 · HCRO/카메라 거리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검색 결과 전체를 CSV로 출력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6974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레시피 파라미터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3566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제품(다이 / 웨이퍼)마다 바뀌는 값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파라미터 구조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세 종류의 파라미터는 모두 이름(Name)과 값(Value) 쌍으로 DB에 저장되고, 시퀀스가 이름으로 조회합니다.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155448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레시피 1개당 N개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Recipe Param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제품별 치수 · 보정 오프셋 · 판정 스펙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657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파라미터 화면 (USub02)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70248" y="169164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1920240"/>
            <a:ext cx="1554480" cy="34747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98848" y="1920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레시피 1개당 N개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Step Recipe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498848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가압 스텝: 시간 · 로드셀 · 전류 · Blow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98848" y="3657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파라미터 화면 BONDING STEP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91856" y="1691640"/>
            <a:ext cx="3566160" cy="27432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0456" y="1920240"/>
            <a:ext cx="1554480" cy="34747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0456" y="1920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설비당 1세트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0456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EC Param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220456" y="29260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장비 고유 오프셋 · 캘리브레이션 결과 · 알고리즘 옵션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0456" y="3657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EC 파라미터 화면 (USub09)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Calibration 탭에서 자동 저장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617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로드 흐름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25146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9AA9B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029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앱 시작 시 레시피 · EC를 메모리에 로드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90672" y="5257800"/>
            <a:ext cx="24688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4992" y="5029200"/>
            <a:ext cx="25146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9AA9B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56432" y="5029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IsActive 레시피 = 사용 레시피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07024" y="5257800"/>
            <a:ext cx="24688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81344" y="5029200"/>
            <a:ext cx="25146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9AA9B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2784" y="5029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시퀀스는 메모리 값을 읽음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723376" y="5257800"/>
            <a:ext cx="24688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97696" y="5029200"/>
            <a:ext cx="2514600" cy="73152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2700">
            <a:solidFill>
              <a:srgbClr val="9AA9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89136" y="50292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사용 레시피 변경 시 VISION_RECIPE 전송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레시피 관리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파라미터 화면(USub02)의 RECIPE LIST에서 레시피를 만들고 사용 레시피를 지정합니다.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생성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574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디바이스(DIE / WAFER)를 고르면 해당 종류의 필수 파라미터가 자동으로 추가됩니다.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51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복사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0175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기존 레시피를 파라미터 · 스텝까지 그대로 복제합니다. 유사 제품 등록에 사용합니다.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수정 / 삭제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977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파라미터 값을 편집하거나 레시피를 지웁니다. 삭제 시 파라미터도 함께 삭제됩니다.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572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사용중 지정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9377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한 번에 하나만 활성화됩니다. 변경 시 비전 PC 레시피도 바뀝니다.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75120" y="1691640"/>
            <a:ext cx="496519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76288" y="189280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76288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187452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자동 추가값 규칙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2423160"/>
            <a:ext cx="455371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251460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보정 오프셋처럼 0이 '보정 없음'인 항목은 0으로 추가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chemeClr val="accent4"/>
                </a:solidFill>
              </a:rPr>
              <a:t>두께 · 위치 등 0이 위험한 물리값은 빈 값으로 추가 → 직접 입력 필수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기존 레시피에 빠진 필수 항목은 누락 경고의 [필수 항목 추가] 버튼으로 채움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값은 문자열로 저장되며 소수점 8자리로 기록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760720"/>
            <a:ext cx="11094415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5852160"/>
            <a:ext cx="274320" cy="2743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5852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576072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필수 파라미터가 없으면 시퀀스가 '&lt;이름&gt; 파라미터가 없습니다' 예외로 멈춥니다. 이름은 대소문자 · 공백까지 정확히 일치해야 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다이 / 웨이퍼 치수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제품의 물리 치수입니다. 두께는 Z 높이 계산에, 웨이퍼 치수는 웨이퍼 맵 생성에 쓰입니다.  ● = 필수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486400"/>
                <a:gridCol w="731520"/>
                <a:gridCol w="822960"/>
                <a:gridCol w="1216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파라미터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역할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DIE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WAFER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자동 추가값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TOP_DIE_THICKNESS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 Die 두께 (mm). 본딩 · 픽업 H_Z 높이 계산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BTM_DIE_THICKNESS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Btm Die 두께 (mm). 본딩 H_Z 높이 계산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TOP_DIE_SIZE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 Die 크기. 비전 촬상 위치 예측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WAFER_SIZE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웨이퍼 크기 (정수). 웨이퍼 맵 생성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DIE_SIZE_X / _Y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다이 크기 X / Y (mm). 웨이퍼 맵 셀 크기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GAP_X / GAP_Y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다이 사이 간격 X / Y (mm)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SCRIBE_SHIFT_X / _Y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스크라이브 라인 시프트 X / Y (mm)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ALIGN_TOP_SPACING_X / _Y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 얼라인 마크 간격 X / Y (mm)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판정 스펙과 촬상 높이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본딩 결과 판정 기준과 PC 카메라로 Align 마크를 찍을 때의 Z 높이입니다.  ● = 필수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486400"/>
                <a:gridCol w="731520"/>
                <a:gridCol w="822960"/>
                <a:gridCol w="1216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파라미터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역할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DIE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WAFER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자동 추가값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SPEC_X / SPEC_Y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본딩 결과 판정 스펙 X / Y (mm)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SPEC_THETA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θ 목표값. thetaF = SPEC_THETA − 측정 각도차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REF_TOP_ALIGN_DIST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 Align 마크 간 기준 거리. 정렬 결과 창 비교 표시용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REF_BTM_ALIGN_DIST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Btm Align 마크 간 기준 거리. 정렬 결과 창 비교 표시용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RIGHT_ALIGN_HEIGHT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 우측 Align 마크 촬상 H_Z 높이. Calibration의 PC AF가 저장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LEFT_ALIGN_HEIGHT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 좌측 Align 마크 촬상 H_Z 높이. Calibration의 PC AF가 저장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11094415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" y="46634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4663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!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51560" y="457200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RIGHT/LEFT_ALIGN_HEIGHT는 Calibration 탭의 [PC AF 실행 (4포인트)]으로 측정해 자동 저장하는 것을 권장합니다.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정렬 보정 파라미터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측정 결과에 더하는 보정 오프셋입니다. 반복 오차가 확인될 때 조정합니다.  ● = 필수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486400"/>
                <a:gridCol w="731520"/>
                <a:gridCol w="822960"/>
                <a:gridCol w="1216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파라미터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역할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DIE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WAFER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자동 추가값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FID_ALIGN_GAP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Fid ↔ Align 마크 촬상 높이 차 (H_Z 상대 이동량)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X_ALIGN_OFFSET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보정 X 오프셋. ResultX에 더함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Y_ALIGN_OFFSET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보정 Y 오프셋. ResultY에 더함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T_ALIGN_OFFSET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보정 θ 오프셋 (deg). ResultT에 더함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HC_CENTER_ERROR_X / _Y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HC 카메라 센터링 오차 보정 X / 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LOW_ERROR_OFFSET_X / _Y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저배율 비전 픽업 위치 오차 보정 X / 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BTM_ALIGN_REF_X / _Y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도면상 Btm 좌→우 Align 상대거리. Btm θ 보정 기준 (미설정 시 0°)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모션 · 본딩 · 버니어 · 비전 연동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본딩 높이와 가압 조건, 결과 측정(버니어), 비전 PC 레시피 연동 값입니다.  ● = 필수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486400"/>
                <a:gridCol w="731520"/>
                <a:gridCol w="822960"/>
                <a:gridCol w="12161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파라미터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역할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DIE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WAFER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자동 추가값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READY_POSITION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H_Z 본딩 대기 간격. Z 하강 식에서 빼는 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TOP_BTM_GAP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 / Btm Die 사이 간격 (Btm 측정 시 H_Z)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BONDING_FORCE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본딩 하중 (표시 · 저장)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BONDING_TIME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본딩 시간 (표시 · 저장)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VERNIER_OFFSET_X / _Y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버니어 측정 위치 오프셋 X / 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VERNIER_DIST_X / _Y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버니어 패턴 간 거리 X / 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VISION_RECIPE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비전 PC 레시피 이름. 사용 레시피 변경 시 비전에 전송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Recipe (가압 스텝)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PMAC 가압 시퀀스에 넘기는 값입니다. 시퀀스는 PICK UP · BTM PRESS · TOP PRESS 이름으로 스텝을 찾습니다.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035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16459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컬럼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역할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PMAC 변수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AccTime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1단계 가압 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BONDING_ACC_TIME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AccTime2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2단계 가압 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BONDING_ACC_TIME2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ContTime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하중 유지 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BONDING_CONT_TIME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DecTime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감압 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BONDING_DEC_TIME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LoadCell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 로드셀 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BONDING_LOADCELL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Current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1단 기울기 전류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BONDING_CURRENT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Current2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최종 전류 (×1000)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BONDING_CURRENT2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VacOffTime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Vacuum OFF 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Blow (On / Dur)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Blow 사용 · ON 시점 · 유지 시간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858000" y="1645920"/>
          <a:ext cx="4782312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858000" y="4846320"/>
            <a:ext cx="4782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AccTime으로 1차 상승, AccTime2로 목표 하중(LoadCell)까지 상승, ContTime 동안 유지, DecTime 동안 감압합니다. 시간 단위는 ms로 가정합니다.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6974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2011680" y="26517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EC 파라미터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2011680" y="356616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설비 고유 상수와 캘리브레이션 결과 (레시피와 무관)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장비 오프셋과 카메라 캘리브레이션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장비 오프셋은 수동 입력, 카메라 값은 Calibration 탭 실행 결과가 자동 저장됩니다.  ● = 필수</a:t>
            </a:r>
            <a:endParaRPr lang="en-US" sz="15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852160"/>
                <a:gridCol w="914400"/>
                <a:gridCol w="14904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파라미터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역할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SHANK_TO_WAFER_OFFSET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Shank ↔ Wafer 표면 거리. 본딩 H_Z 계산의 기준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SHANK_TO_DIE_OFFSET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Shank ↔ Die Carrier 거리. 픽업 H_Z 계산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SHANK_LOW_OFFSET_X / _Y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저배율 카메라 ↔ Shank 중심 오프셋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수동 입력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ALIGN_DIST_TOLERANCE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Top / Btm Align 거리 차 허용치. 초과 시 경고 (0 이하: 검사 안 함)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HC1_X / HC1_Y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HC1 카메라 위치 (카메라 거리)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Calibration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HC2_X / HC2_Y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HC2 카메라 위치 (Hc2Offset)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Calibration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HC1_T / HC2_T / PC_T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HC1 · HC2 · PC 카메라 회전 각도 (deg)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Calibration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PC_W_T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 카메라 ↔ Wafer 각도. HC1/HC2_T에 더해 비전에 전송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Calibration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회전중심과 비전 옵션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HcRO는 좌표 통합의 기준점입니다. 비전 옵션은 값이 없으면 코드 기본값으로 동작합니다.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5852160"/>
                <a:gridCol w="914400"/>
                <a:gridCol w="14904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파라미터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역할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필수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HCRO_X / HCRO_Y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Head 회전중심. 좌표 통합 시 모든 마크에서 빼는 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Calibration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HCRO_FIT_MODE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회전중심 피팅 방식: rigid(강체) | circle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rigid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HCRO_REPEAT_N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HcRO 측정 반복 횟수. [0°, −0.75°, +0.75°] × N회 촬상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LOW_VISION_RETRY_MAX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저배율 비전 재시도 횟수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VISION_RETRY_MAX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고배율 비전 재시도 횟수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VISION_RETRY_STEP_MM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재시도 시 이동 간격 (mm)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0.005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BTM_THETA_SIGN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Btm θ 보정 부호. 하드웨어 방향이 반대면 +1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−1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BTM_THETA_MIN_DEG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Btm θ 보정 데드밴드 (deg). 미만이면 보정 생략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F2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운영 시 주의사항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6811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48132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이름은 정확히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5056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파라미터는 이름 문자열로 조회합니다. 대소문자 · 공백이 다르면 '파라미터가 없습니다' 예외로 시퀀스가 멈춥니다. (VISION_RECIPE만 대소문자 무시)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280160"/>
            <a:ext cx="546811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73368" y="148132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7336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46304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빈 값 확인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011680"/>
            <a:ext cx="5056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두께 · 위치 같은 물리값은 빈 값으로 추가됩니다. 운전 전 반드시 실측값을 입력하세요.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46811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12724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10896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범위 검사 없음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657600"/>
            <a:ext cx="5056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Minimum / Maximum은 시퀀스에서 검사하지 않습니다. 단위(mm, deg)를 확인하고 입력하세요.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2926080"/>
            <a:ext cx="546811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73368" y="312724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73368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310896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캘리브레이션 후 저장값 확인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657600"/>
            <a:ext cx="5056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Calibration 결과는 EC 파라미터에 자동 저장됩니다. 실행 후 USub09에서 값이 바뀌었는지 확인하세요.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546811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4773168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75488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새 장비 · 새 레시피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303520"/>
            <a:ext cx="5056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DB 시드가 없으므로 필수 항목을 직접 등록하거나 기존 레시피를 복사해 시작하세요.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72200" y="4572000"/>
            <a:ext cx="5468112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73368" y="4773168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73368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4754880"/>
            <a:ext cx="4507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Z축 안전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0" y="5303520"/>
            <a:ext cx="5056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SHANK_TO_WAFER_OFFSET · 두께 · READY_POSITION 오입력은 H_Z 충돌로 이어질 수 있습니다.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CB Manual">
  <a:themeElements>
    <a:clrScheme name="HCB Manual">
      <a:dk1>
        <a:srgbClr val="1B2A36"/>
      </a:dk1>
      <a:lt1>
        <a:srgbClr val="FFFFFF"/>
      </a:lt1>
      <a:dk2>
        <a:srgbClr val="4A5E6E"/>
      </a:dk2>
      <a:lt2>
        <a:srgbClr val="EEF2F5"/>
      </a:lt2>
      <a:accent1>
        <a:srgbClr val="0F9AA8"/>
      </a:accent1>
      <a:accent2>
        <a:srgbClr val="E39B2D"/>
      </a:accent2>
      <a:accent3>
        <a:srgbClr val="2E4A5E"/>
      </a:accent3>
      <a:accent4>
        <a:srgbClr val="C8414F"/>
      </a:accent4>
      <a:accent5>
        <a:srgbClr val="6FA77A"/>
      </a:accent5>
      <a:accent6>
        <a:srgbClr val="9AA9B6"/>
      </a:accent6>
      <a:hlink>
        <a:srgbClr val="0F9AA8"/>
      </a:hlink>
      <a:folHlink>
        <a:srgbClr val="4A5E6E"/>
      </a:folHlink>
    </a:clrScheme>
    <a:fontScheme name="HCB Manua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HCB 장비 운영 매뉴얼</dc:title>
  <dc:subject>PptxGenJS Presentation</dc:subject>
  <dc:creator>HCB</dc:creator>
  <cp:lastModifiedBy>HCB</cp:lastModifiedBy>
  <cp:revision>1</cp:revision>
  <dcterms:created xsi:type="dcterms:W3CDTF">2026-10-22T07:42:05Z</dcterms:created>
  <dcterms:modified xsi:type="dcterms:W3CDTF">2026-10-22T07:42:05Z</dcterms:modified>
</cp:coreProperties>
</file>